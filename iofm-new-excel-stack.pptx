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441" r:id="rId3"/>
    <p:sldId id="426" r:id="rId4"/>
    <p:sldId id="435" r:id="rId5"/>
    <p:sldId id="436" r:id="rId6"/>
    <p:sldId id="407" r:id="rId7"/>
    <p:sldId id="437" r:id="rId8"/>
    <p:sldId id="438" r:id="rId9"/>
    <p:sldId id="439" r:id="rId10"/>
    <p:sldId id="428" r:id="rId11"/>
    <p:sldId id="440" r:id="rId12"/>
    <p:sldId id="415" r:id="rId13"/>
    <p:sldId id="427" r:id="rId14"/>
  </p:sldIdLst>
  <p:sldSz cx="18288000" cy="10287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78463" autoAdjust="0"/>
  </p:normalViewPr>
  <p:slideViewPr>
    <p:cSldViewPr>
      <p:cViewPr varScale="1">
        <p:scale>
          <a:sx n="44" d="100"/>
          <a:sy n="44" d="100"/>
        </p:scale>
        <p:origin x="528" y="1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like to frame AI in Excel as a spectrum, because most of the confusion comes from living at the extremes.</a:t>
            </a:r>
          </a:p>
          <a:p>
            <a:r>
              <a:rPr lang="en-US" dirty="0"/>
              <a:t>On one end, you have </a:t>
            </a:r>
            <a:r>
              <a:rPr lang="en-US" b="1" dirty="0"/>
              <a:t>AI without structure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That’s when people paste messy data into a chat box and ask for answers.</a:t>
            </a:r>
            <a:br>
              <a:rPr lang="en-US" dirty="0"/>
            </a:br>
            <a:r>
              <a:rPr lang="en-US" dirty="0"/>
              <a:t>There’s no validation, no audit trail, no repeatability.</a:t>
            </a:r>
            <a:br>
              <a:rPr lang="en-US" dirty="0"/>
            </a:br>
            <a:r>
              <a:rPr lang="en-US" dirty="0"/>
              <a:t>In finance, that’s not innovation — that’s risk.</a:t>
            </a:r>
          </a:p>
          <a:p>
            <a:r>
              <a:rPr lang="en-US" dirty="0"/>
              <a:t>On the other end, you have </a:t>
            </a:r>
            <a:r>
              <a:rPr lang="en-US" b="1" dirty="0"/>
              <a:t>structure without AI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Very controlled spreadsheets, very careful processes — but everything is slow, manual, and fragile.</a:t>
            </a:r>
            <a:br>
              <a:rPr lang="en-US" dirty="0"/>
            </a:br>
            <a:r>
              <a:rPr lang="en-US" dirty="0"/>
              <a:t>People spend their time copying, checking, reformatting, and explaining instead of thinking.</a:t>
            </a:r>
          </a:p>
          <a:p>
            <a:r>
              <a:rPr lang="en-US" dirty="0"/>
              <a:t>The sweet spot is right here in the middle.</a:t>
            </a:r>
            <a:br>
              <a:rPr lang="en-US" dirty="0"/>
            </a:br>
            <a:r>
              <a:rPr lang="en-US" b="1" dirty="0"/>
              <a:t>AI layered on top of Excel’s existing controls.</a:t>
            </a:r>
            <a:endParaRPr lang="en-US" dirty="0"/>
          </a:p>
          <a:p>
            <a:r>
              <a:rPr lang="en-US" dirty="0"/>
              <a:t>Excel already gives us things finance cares about:</a:t>
            </a:r>
            <a:br>
              <a:rPr lang="en-US" dirty="0"/>
            </a:br>
            <a:r>
              <a:rPr lang="en-US" dirty="0"/>
              <a:t>tables, formulas, Power Query steps, version history, review workflows.</a:t>
            </a:r>
            <a:br>
              <a:rPr lang="en-US" dirty="0"/>
            </a:br>
            <a:r>
              <a:rPr lang="en-US" dirty="0"/>
              <a:t>AI becomes useful when it </a:t>
            </a:r>
            <a:r>
              <a:rPr lang="en-US" i="1" dirty="0"/>
              <a:t>respects</a:t>
            </a:r>
            <a:r>
              <a:rPr lang="en-US" dirty="0"/>
              <a:t> that structure instead of bypassing it.</a:t>
            </a:r>
          </a:p>
          <a:p>
            <a:r>
              <a:rPr lang="en-US" dirty="0"/>
              <a:t>In this session, I’m not showing AI as a decision-maker.</a:t>
            </a:r>
            <a:br>
              <a:rPr lang="en-US" dirty="0"/>
            </a:br>
            <a:r>
              <a:rPr lang="en-US" dirty="0"/>
              <a:t>I’m showing it as an assistant that works </a:t>
            </a:r>
            <a:r>
              <a:rPr lang="en-US" i="1" dirty="0"/>
              <a:t>inside</a:t>
            </a:r>
            <a:r>
              <a:rPr lang="en-US" dirty="0"/>
              <a:t> a controlled Excel workflow:</a:t>
            </a:r>
            <a:br>
              <a:rPr lang="en-US" dirty="0"/>
            </a:br>
            <a:r>
              <a:rPr lang="en-US" dirty="0"/>
              <a:t>helping spot issues, draft explanations, and reduce repetitive effort — while humans still review, refresh, and approve.</a:t>
            </a:r>
          </a:p>
          <a:p>
            <a:r>
              <a:rPr lang="en-US" dirty="0"/>
              <a:t>That’s where you get leverage without giving up control.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00C5-13F7-48FC-8160-C29AECF6C6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05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\\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DD0E-7B26-6A40-B99C-1DB1BA64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93FE2-3717-2EDA-F56E-5665D5A85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CE75D-996B-9833-1013-EAD9BB8A2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8AF92-EF6C-FA8B-D809-38ED0AB72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22B3-BAA4-0BAA-67B7-A455E33D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A8D85-8EDB-320E-B82E-3D3DF0C09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96F83-412B-A26C-C37C-A10F2595F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AA045-B911-BDFF-838C-B03FB3819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87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B1F5-1022-4CE3-A7AD-748C2939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021AD-DA3C-D2A8-6DCA-10B5C73F0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98A40-4575-A2B2-0DDD-B74DA6A81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951FB-F32F-3030-3950-0E80D0664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79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ringfestanalytics.com/power-automate-for-excel-how-to-create-an-approval-process-with-microsoft-form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The New AI in Excel Stack for Finance Professionals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6CCAA77C-4E76-640C-066C-F3E39EE1A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2352C-F3FE-EA92-9CFF-5CD803AF4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453" y="7397012"/>
            <a:ext cx="8102232" cy="217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About me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675" y="195638"/>
            <a:ext cx="3130385" cy="40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91" y="6002696"/>
            <a:ext cx="7448309" cy="5462681"/>
          </a:xfrm>
          <a:prstGeom prst="rect">
            <a:avLst/>
          </a:prstGeom>
        </p:spPr>
      </p:pic>
      <p:pic>
        <p:nvPicPr>
          <p:cNvPr id="1026" name="Picture 2" descr="Modern data analytics in Excel book cover">
            <a:extLst>
              <a:ext uri="{FF2B5EF4-FFF2-40B4-BE49-F238E27FC236}">
                <a16:creationId xmlns:a16="http://schemas.microsoft.com/office/drawing/2014/main" id="{874ADA5E-A7A7-1D02-C728-513187DE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829" y="1736915"/>
            <a:ext cx="3437261" cy="450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crosoft Most Valuable Professional - Wikipedia">
            <a:extLst>
              <a:ext uri="{FF2B5EF4-FFF2-40B4-BE49-F238E27FC236}">
                <a16:creationId xmlns:a16="http://schemas.microsoft.com/office/drawing/2014/main" id="{36C71929-5967-B93D-05FE-E330D621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2" y="7832951"/>
            <a:ext cx="50577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Global Excel Summit (9-11 February 2022) - Microsoft Excel Conference">
            <a:extLst>
              <a:ext uri="{FF2B5EF4-FFF2-40B4-BE49-F238E27FC236}">
                <a16:creationId xmlns:a16="http://schemas.microsoft.com/office/drawing/2014/main" id="{A4A37758-F92B-49D0-9144-77DE1A40A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7664" y="4795613"/>
            <a:ext cx="2901909" cy="2901909"/>
          </a:xfrm>
          <a:prstGeom prst="rect">
            <a:avLst/>
          </a:prstGeom>
        </p:spPr>
      </p:pic>
      <p:pic>
        <p:nvPicPr>
          <p:cNvPr id="7" name="Picture 6" descr="linkedinlearninginstructor #linkedinlearning | Thais Cooke | 80 comments">
            <a:extLst>
              <a:ext uri="{FF2B5EF4-FFF2-40B4-BE49-F238E27FC236}">
                <a16:creationId xmlns:a16="http://schemas.microsoft.com/office/drawing/2014/main" id="{C1E81082-DC04-E8C8-AF35-69591438D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407" y="4935896"/>
            <a:ext cx="5185833" cy="2133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DDC47-548D-1287-3489-8B5D9DA3C477}"/>
              </a:ext>
            </a:extLst>
          </p:cNvPr>
          <p:cNvSpPr txBox="1"/>
          <p:nvPr/>
        </p:nvSpPr>
        <p:spPr>
          <a:xfrm>
            <a:off x="849234" y="2485315"/>
            <a:ext cx="66183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 help Excel users move from fragile spreadsheets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to confident, scalable analysis.</a:t>
            </a:r>
          </a:p>
        </p:txBody>
      </p:sp>
    </p:spTree>
    <p:extLst>
      <p:ext uri="{BB962C8B-B14F-4D97-AF65-F5344CB8AC3E}">
        <p14:creationId xmlns:p14="http://schemas.microsoft.com/office/powerpoint/2010/main" val="255386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Clean and prep data the modern, reliable way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Run forecasting and simulations in Python in Excel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Use Copilot for fast, defensible analysis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Understand </a:t>
            </a:r>
            <a:r>
              <a:rPr lang="en-US" sz="4200">
                <a:solidFill>
                  <a:srgbClr val="707070"/>
                </a:solidFill>
                <a:latin typeface="Pragmatica" panose="020B0403040502020204" pitchFamily="34" charset="0"/>
              </a:rPr>
              <a:t>where Office Scripts</a:t>
            </a: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, Automate, and Agents actually fit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Build a practical modeling workflow you can use tomorrow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7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A2F7-CEB0-4209-DC3D-F249E977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AB21DD4-1E71-0731-A2B8-76CDA8683D46}"/>
              </a:ext>
            </a:extLst>
          </p:cNvPr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The AI sweet spot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367A43BF-28D5-E587-7263-F5E78BC8B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B25DAC54-5829-C2EE-04C9-18CD81CE9096}"/>
              </a:ext>
            </a:extLst>
          </p:cNvPr>
          <p:cNvSpPr/>
          <p:nvPr/>
        </p:nvSpPr>
        <p:spPr>
          <a:xfrm>
            <a:off x="1143000" y="3695700"/>
            <a:ext cx="15392400" cy="3733800"/>
          </a:xfrm>
          <a:prstGeom prst="leftRightArrow">
            <a:avLst/>
          </a:prstGeom>
          <a:solidFill>
            <a:srgbClr val="CF3338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9E5D4-9FF2-2C0F-5B3F-7B2E307FA5D0}"/>
              </a:ext>
            </a:extLst>
          </p:cNvPr>
          <p:cNvSpPr/>
          <p:nvPr/>
        </p:nvSpPr>
        <p:spPr>
          <a:xfrm>
            <a:off x="6629400" y="4648200"/>
            <a:ext cx="39624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AI + Excel’s existing controls = leverage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C6237-2E9E-5783-FD0D-BC4939235463}"/>
              </a:ext>
            </a:extLst>
          </p:cNvPr>
          <p:cNvSpPr txBox="1"/>
          <p:nvPr/>
        </p:nvSpPr>
        <p:spPr>
          <a:xfrm>
            <a:off x="2084533" y="4912476"/>
            <a:ext cx="441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AI without structure = risk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6B48F-B4DE-EC2C-3E01-3DAE4467291D}"/>
              </a:ext>
            </a:extLst>
          </p:cNvPr>
          <p:cNvSpPr txBox="1"/>
          <p:nvPr/>
        </p:nvSpPr>
        <p:spPr>
          <a:xfrm>
            <a:off x="10611678" y="4900880"/>
            <a:ext cx="472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Structure without AI = slow</a:t>
            </a:r>
          </a:p>
        </p:txBody>
      </p:sp>
    </p:spTree>
    <p:extLst>
      <p:ext uri="{BB962C8B-B14F-4D97-AF65-F5344CB8AC3E}">
        <p14:creationId xmlns:p14="http://schemas.microsoft.com/office/powerpoint/2010/main" val="352342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DAFB-C39F-E1F1-239C-CC130F0E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3F99B048-238E-884E-F9CC-BE1003469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3C5240-267F-C074-4137-482F2BB3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33400"/>
            <a:ext cx="92202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51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757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Auditable data cleaning with Power Query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Copilot to identify potential data quality issues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Enforce standardization and business rules with Power Query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Copilot to clarify and document transformation steps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InvoiceRegister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71531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CBBF-8FFC-E22C-8007-C2C9DD55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9677D3-44B2-5B66-71B7-B1543A9DF4D8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31ED99-003F-9B63-0C97-20993D0F4B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5B7C2-2826-D66C-4521-5694092DDB43}"/>
              </a:ext>
            </a:extLst>
          </p:cNvPr>
          <p:cNvSpPr txBox="1"/>
          <p:nvPr/>
        </p:nvSpPr>
        <p:spPr>
          <a:xfrm>
            <a:off x="260431" y="329879"/>
            <a:ext cx="8906720" cy="7220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Scenario-based payment timing analysis with Analyst Agent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Specify uncertainty ranges using natural language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Run a reproducible scenario analysis 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OpenInvoices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1735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F86A-C9A1-36F7-63F4-518236B2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A93C5A-E306-615A-6570-3BDCB204E0E4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563824-D714-5588-FCB3-54A382D2BC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301B72-4635-023D-51BD-0B9F1FEDF896}"/>
              </a:ext>
            </a:extLst>
          </p:cNvPr>
          <p:cNvSpPr txBox="1"/>
          <p:nvPr/>
        </p:nvSpPr>
        <p:spPr>
          <a:xfrm>
            <a:off x="260431" y="329879"/>
            <a:ext cx="8906720" cy="9272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Exception review &amp; variance explanation with Analyst Agent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Ask the agent to flag the biggest variances and unusual invoice volume shifts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Have it show its work (reasoning + intermediate steps) for review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the output to draft a concise, defensible close summary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36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APSummary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699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B882-454A-EA2E-95D8-62528690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D9137F-AB84-4A7D-C46D-CD5ECFE5D7F4}"/>
              </a:ext>
            </a:extLst>
          </p:cNvPr>
          <p:cNvSpPr/>
          <p:nvPr/>
        </p:nvSpPr>
        <p:spPr>
          <a:xfrm>
            <a:off x="11734800" y="0"/>
            <a:ext cx="65532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5DE7AF-05B2-1DE1-C36A-524D3F1CCC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6D2621-E985-98E9-6041-1E91616B5A2A}"/>
              </a:ext>
            </a:extLst>
          </p:cNvPr>
          <p:cNvSpPr txBox="1"/>
          <p:nvPr/>
        </p:nvSpPr>
        <p:spPr>
          <a:xfrm>
            <a:off x="260430" y="329879"/>
            <a:ext cx="11017169" cy="8839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Controlled approval workflows with Power Automate &amp; Excel</a:t>
            </a: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Automate to route requests and manage approvals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Record outcomes and comments in a structured Excel table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Reduce email-based manual work while preserving review and auditability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Reference example: Expense approval workflow (Forms → Power Automate → Excel)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u="sng" dirty="0">
                <a:solidFill>
                  <a:srgbClr val="CF333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https://stringfestanalytics.com/power-automate-for-excel-how-to-create-an-approval-process-with-microsoft-forms/</a:t>
            </a:r>
            <a:endParaRPr lang="en-US" sz="5400" dirty="0">
              <a:solidFill>
                <a:srgbClr val="CF3338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1972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8710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First-draft reporting workflows with Agent Mode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Agent Mode to assemble analyses, charts, and written summaries across Excel sheets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Treat agent output as a coordinated draft, not a final deliverable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Review, edit, and approve results to preserve accuracy and auditability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endParaRPr lang="en-US" sz="3200" dirty="0">
              <a:solidFill>
                <a:srgbClr val="C00000"/>
              </a:solidFill>
              <a:latin typeface="Pragmatica" panose="020B0403040502020204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APMonthly</a:t>
            </a:r>
            <a:endParaRPr lang="en-US" sz="6000" dirty="0">
              <a:solidFill>
                <a:srgbClr val="CF3338"/>
              </a:solidFill>
              <a:latin typeface="Pragmatica" panose="020B04030405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7922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C72A-DF4F-3619-6A00-C42C9EFF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653C19F5-31E1-B871-222A-EE176EB1C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4145DF-B19E-A76D-EA90-329D749F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33400"/>
            <a:ext cx="92202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5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23C9-D5F7-C820-78B9-E169BDF2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71779-1F50-1702-DEC1-87CD482189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C4C7B-C529-5329-03AC-796804551DC1}"/>
              </a:ext>
            </a:extLst>
          </p:cNvPr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782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2699</TotalTime>
  <Words>581</Words>
  <Application>Microsoft Office PowerPoint</Application>
  <PresentationFormat>Custom</PresentationFormat>
  <Paragraphs>74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Pragmatica</vt:lpstr>
      <vt:lpstr>Normafixed Tryout</vt:lpstr>
      <vt:lpstr>Calibri</vt:lpstr>
      <vt:lpstr>Aliens &amp; cows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239</cp:revision>
  <dcterms:created xsi:type="dcterms:W3CDTF">2006-08-16T00:00:00Z</dcterms:created>
  <dcterms:modified xsi:type="dcterms:W3CDTF">2026-03-06T18:15:10Z</dcterms:modified>
  <dc:identifier>DADurESpNu8</dc:identifier>
</cp:coreProperties>
</file>