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5"/>
  </p:notesMasterIdLst>
  <p:sldIdLst>
    <p:sldId id="256" r:id="rId2"/>
    <p:sldId id="441" r:id="rId3"/>
    <p:sldId id="426" r:id="rId4"/>
    <p:sldId id="435" r:id="rId5"/>
    <p:sldId id="436" r:id="rId6"/>
    <p:sldId id="407" r:id="rId7"/>
    <p:sldId id="437" r:id="rId8"/>
    <p:sldId id="438" r:id="rId9"/>
    <p:sldId id="439" r:id="rId10"/>
    <p:sldId id="428" r:id="rId11"/>
    <p:sldId id="440" r:id="rId12"/>
    <p:sldId id="415" r:id="rId13"/>
    <p:sldId id="427" r:id="rId14"/>
  </p:sldIdLst>
  <p:sldSz cx="18288000" cy="10287000"/>
  <p:notesSz cx="6858000" cy="9144000"/>
  <p:embeddedFontLst>
    <p:embeddedFont>
      <p:font typeface="Consolas" panose="020B0609020204030204" pitchFamily="49" charset="0"/>
      <p:regular r:id="rId16"/>
      <p:bold r:id="rId17"/>
      <p:italic r:id="rId18"/>
      <p:boldItalic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7684158-E8C8-9BE0-21EB-718D906F94A5}" name="George Mount" initials="GM" userId="S::george@stringfestanalytics.com::22d0b802-afc6-4b8f-ba57-7a855d96927f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eorge Mount" initials="GM" lastIdx="9" clrIdx="0">
    <p:extLst>
      <p:ext uri="{19B8F6BF-5375-455C-9EA6-DF929625EA0E}">
        <p15:presenceInfo xmlns:p15="http://schemas.microsoft.com/office/powerpoint/2012/main" userId="57d2ab2a84d54c8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3338"/>
    <a:srgbClr val="3D393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92" autoAdjust="0"/>
    <p:restoredTop sz="78463" autoAdjust="0"/>
  </p:normalViewPr>
  <p:slideViewPr>
    <p:cSldViewPr>
      <p:cViewPr varScale="1">
        <p:scale>
          <a:sx n="38" d="100"/>
          <a:sy n="38" d="100"/>
        </p:scale>
        <p:origin x="485" y="1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40" d="100"/>
        <a:sy n="14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A98A70-FA8C-4354-959C-C70678AC9BCF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B500C5-13F7-48FC-8160-C29AECF6C6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350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like to frame AI in Excel as a spectrum, because most of the confusion comes from living at the extremes.</a:t>
            </a:r>
          </a:p>
          <a:p>
            <a:r>
              <a:rPr lang="en-US" dirty="0"/>
              <a:t>On one end, you have </a:t>
            </a:r>
            <a:r>
              <a:rPr lang="en-US" b="1" dirty="0"/>
              <a:t>AI without structure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That’s when people paste messy data into a chat box and ask for answers.</a:t>
            </a:r>
            <a:br>
              <a:rPr lang="en-US" dirty="0"/>
            </a:br>
            <a:r>
              <a:rPr lang="en-US" dirty="0"/>
              <a:t>There’s no validation, no audit trail, no repeatability.</a:t>
            </a:r>
            <a:br>
              <a:rPr lang="en-US" dirty="0"/>
            </a:br>
            <a:r>
              <a:rPr lang="en-US" dirty="0"/>
              <a:t>In finance, that’s not innovation — that’s risk.</a:t>
            </a:r>
          </a:p>
          <a:p>
            <a:r>
              <a:rPr lang="en-US" dirty="0"/>
              <a:t>On the other end, you have </a:t>
            </a:r>
            <a:r>
              <a:rPr lang="en-US" b="1" dirty="0"/>
              <a:t>structure without AI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Very controlled spreadsheets, very careful processes — but everything is slow, manual, and fragile.</a:t>
            </a:r>
            <a:br>
              <a:rPr lang="en-US" dirty="0"/>
            </a:br>
            <a:r>
              <a:rPr lang="en-US" dirty="0"/>
              <a:t>People spend their time copying, checking, reformatting, and explaining instead of thinking.</a:t>
            </a:r>
          </a:p>
          <a:p>
            <a:r>
              <a:rPr lang="en-US" dirty="0"/>
              <a:t>The sweet spot is right here in the middle.</a:t>
            </a:r>
            <a:br>
              <a:rPr lang="en-US" dirty="0"/>
            </a:br>
            <a:r>
              <a:rPr lang="en-US" b="1" dirty="0"/>
              <a:t>AI layered on top of Excel’s existing controls.</a:t>
            </a:r>
            <a:endParaRPr lang="en-US" dirty="0"/>
          </a:p>
          <a:p>
            <a:r>
              <a:rPr lang="en-US" dirty="0"/>
              <a:t>Excel already gives us things finance cares about:</a:t>
            </a:r>
            <a:br>
              <a:rPr lang="en-US" dirty="0"/>
            </a:br>
            <a:r>
              <a:rPr lang="en-US" dirty="0"/>
              <a:t>tables, formulas, Power Query steps, version history, review workflows.</a:t>
            </a:r>
            <a:br>
              <a:rPr lang="en-US" dirty="0"/>
            </a:br>
            <a:r>
              <a:rPr lang="en-US" dirty="0"/>
              <a:t>AI becomes useful when it </a:t>
            </a:r>
            <a:r>
              <a:rPr lang="en-US" i="1" dirty="0"/>
              <a:t>respects</a:t>
            </a:r>
            <a:r>
              <a:rPr lang="en-US" dirty="0"/>
              <a:t> that structure instead of bypassing it.</a:t>
            </a:r>
          </a:p>
          <a:p>
            <a:r>
              <a:rPr lang="en-US" dirty="0"/>
              <a:t>In this session, I’m not showing AI as a decision-maker.</a:t>
            </a:r>
            <a:br>
              <a:rPr lang="en-US" dirty="0"/>
            </a:br>
            <a:r>
              <a:rPr lang="en-US" dirty="0"/>
              <a:t>I’m showing it as an assistant that works </a:t>
            </a:r>
            <a:r>
              <a:rPr lang="en-US" i="1" dirty="0"/>
              <a:t>inside</a:t>
            </a:r>
            <a:r>
              <a:rPr lang="en-US" dirty="0"/>
              <a:t> a controlled Excel workflow:</a:t>
            </a:r>
            <a:br>
              <a:rPr lang="en-US" dirty="0"/>
            </a:br>
            <a:r>
              <a:rPr lang="en-US" dirty="0"/>
              <a:t>helping spot issues, draft explanations, and reduce repetitive effort — while humans still review, refresh, and approve.</a:t>
            </a:r>
          </a:p>
          <a:p>
            <a:r>
              <a:rPr lang="en-US" dirty="0"/>
              <a:t>That’s where you get leverage without giving up control.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B500C5-13F7-48FC-8160-C29AECF6C60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5057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\\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5492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EDD0E-7B26-6A40-B99C-1DB1BA641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C93FE2-3717-2EDA-F56E-5665D5A85A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5CE75D-996B-9833-1013-EAD9BB8A2B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8AF92-EF6C-FA8B-D809-38ED0AB72A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4485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E22B3-BAA4-0BAA-67B7-A455E33D5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A8D85-8EDB-320E-B82E-3D3DF0C099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E96F83-412B-A26C-C37C-A10F2595FF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5AA045-B911-BDFF-838C-B03FB3819A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3875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4B1F5-1022-4CE3-A7AD-748C29390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2021AD-DA3C-D2A8-6DCA-10B5C73F01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398A40-4575-A2B2-0DDD-B74DA6A813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9951FB-F32F-3030-3950-0E80D0664D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8794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False!</a:t>
            </a:r>
          </a:p>
          <a:p>
            <a:pPr marL="228600" indent="-228600">
              <a:buAutoNum type="arabicPeriod"/>
            </a:pPr>
            <a:r>
              <a:rPr lang="en-US" dirty="0"/>
              <a:t>Function, Formula, Function</a:t>
            </a:r>
          </a:p>
          <a:p>
            <a:pPr marL="228600" indent="-228600">
              <a:buAutoNum type="arabicPeriod"/>
            </a:pPr>
            <a:r>
              <a:rPr lang="en-US" dirty="0"/>
              <a:t>Argument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00335D-9F13-4B80-ADC5-B0EA3E10FF6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3298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tringfestanalytics.com/power-automate-for-excel-how-to-create-an-approval-process-with-microsoft-forms/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542796" y="4850092"/>
            <a:ext cx="4745204" cy="5435819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14400" y="-3440159"/>
            <a:ext cx="15257208" cy="1118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37" y="2531318"/>
            <a:ext cx="1197979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The New AI in Excel Stack for Finance Professionals</a:t>
            </a:r>
          </a:p>
        </p:txBody>
      </p:sp>
      <p:sp>
        <p:nvSpPr>
          <p:cNvPr id="2" name="AutoShape 2" descr="Home | Full Stack Modeller">
            <a:extLst>
              <a:ext uri="{FF2B5EF4-FFF2-40B4-BE49-F238E27FC236}">
                <a16:creationId xmlns:a16="http://schemas.microsoft.com/office/drawing/2014/main" id="{6CCAA77C-4E76-640C-066C-F3E39EE1AC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42352C-F3FE-EA92-9CFF-5CD803AF45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46453" y="7397012"/>
            <a:ext cx="8102232" cy="2173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591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 dirty="0"/>
          </a:p>
        </p:txBody>
      </p:sp>
      <p:sp>
        <p:nvSpPr>
          <p:cNvPr id="5" name="TextBox 4"/>
          <p:cNvSpPr txBox="1"/>
          <p:nvPr/>
        </p:nvSpPr>
        <p:spPr>
          <a:xfrm>
            <a:off x="781292" y="590309"/>
            <a:ext cx="15486926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900" b="1" dirty="0">
                <a:solidFill>
                  <a:schemeClr val="bg1"/>
                </a:solidFill>
                <a:latin typeface="Normafixed Tryout" panose="00000409000000000000" pitchFamily="49" charset="0"/>
              </a:rPr>
              <a:t>About me</a:t>
            </a:r>
          </a:p>
        </p:txBody>
      </p:sp>
      <p:pic>
        <p:nvPicPr>
          <p:cNvPr id="3" name="Picture 4" descr="Advancing into Analytics Cover Image">
            <a:extLst>
              <a:ext uri="{FF2B5EF4-FFF2-40B4-BE49-F238E27FC236}">
                <a16:creationId xmlns:a16="http://schemas.microsoft.com/office/drawing/2014/main" id="{588F684B-18EF-D76C-5F7B-15E4BAD606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38675" y="195638"/>
            <a:ext cx="3130385" cy="4088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 descr="Logo&#10;&#10;Description automatically generated">
            <a:extLst>
              <a:ext uri="{FF2B5EF4-FFF2-40B4-BE49-F238E27FC236}">
                <a16:creationId xmlns:a16="http://schemas.microsoft.com/office/drawing/2014/main" id="{97E0F267-87DF-961E-1FAA-47FD4F27A5C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3691" y="6002696"/>
            <a:ext cx="7448309" cy="5462681"/>
          </a:xfrm>
          <a:prstGeom prst="rect">
            <a:avLst/>
          </a:prstGeom>
        </p:spPr>
      </p:pic>
      <p:pic>
        <p:nvPicPr>
          <p:cNvPr id="1026" name="Picture 2" descr="Modern data analytics in Excel book cover">
            <a:extLst>
              <a:ext uri="{FF2B5EF4-FFF2-40B4-BE49-F238E27FC236}">
                <a16:creationId xmlns:a16="http://schemas.microsoft.com/office/drawing/2014/main" id="{874ADA5E-A7A7-1D02-C728-513187DE1E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8829" y="1736915"/>
            <a:ext cx="3437261" cy="45079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Microsoft Most Valuable Professional - Wikipedia">
            <a:extLst>
              <a:ext uri="{FF2B5EF4-FFF2-40B4-BE49-F238E27FC236}">
                <a16:creationId xmlns:a16="http://schemas.microsoft.com/office/drawing/2014/main" id="{36C71929-5967-B93D-05FE-E330D621C5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642" y="7832951"/>
            <a:ext cx="5057775" cy="2028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 descr="Global Excel Summit (9-11 February 2022) - Microsoft Excel Conference">
            <a:extLst>
              <a:ext uri="{FF2B5EF4-FFF2-40B4-BE49-F238E27FC236}">
                <a16:creationId xmlns:a16="http://schemas.microsoft.com/office/drawing/2014/main" id="{A4A37758-F92B-49D0-9144-77DE1A40AF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397664" y="4795613"/>
            <a:ext cx="2901909" cy="2901909"/>
          </a:xfrm>
          <a:prstGeom prst="rect">
            <a:avLst/>
          </a:prstGeom>
        </p:spPr>
      </p:pic>
      <p:pic>
        <p:nvPicPr>
          <p:cNvPr id="7" name="Picture 6" descr="linkedinlearninginstructor #linkedinlearning | Thais Cooke | 80 comments">
            <a:extLst>
              <a:ext uri="{FF2B5EF4-FFF2-40B4-BE49-F238E27FC236}">
                <a16:creationId xmlns:a16="http://schemas.microsoft.com/office/drawing/2014/main" id="{C1E81082-DC04-E8C8-AF35-69591438D97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33407" y="4935896"/>
            <a:ext cx="5185833" cy="21336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4DDDC47-548D-1287-3489-8B5D9DA3C477}"/>
              </a:ext>
            </a:extLst>
          </p:cNvPr>
          <p:cNvSpPr txBox="1"/>
          <p:nvPr/>
        </p:nvSpPr>
        <p:spPr>
          <a:xfrm>
            <a:off x="849234" y="2485315"/>
            <a:ext cx="661836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</a:rPr>
              <a:t>I help Excel users move from fragile spreadsheets</a:t>
            </a:r>
          </a:p>
          <a:p>
            <a:r>
              <a:rPr lang="en-US" sz="3600" b="1" dirty="0">
                <a:solidFill>
                  <a:schemeClr val="bg1"/>
                </a:solidFill>
              </a:rPr>
              <a:t>to confident, scalable analysis.</a:t>
            </a:r>
          </a:p>
        </p:txBody>
      </p:sp>
    </p:spTree>
    <p:extLst>
      <p:ext uri="{BB962C8B-B14F-4D97-AF65-F5344CB8AC3E}">
        <p14:creationId xmlns:p14="http://schemas.microsoft.com/office/powerpoint/2010/main" val="2553863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520861" y="170082"/>
            <a:ext cx="1197979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Objectives for this session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0861" y="3191948"/>
            <a:ext cx="1439312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Clean and prep data the modern, reliable way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Run forecasting and simulations in Python in Excel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Use Copilot for fast, defensible analysis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Understand </a:t>
            </a:r>
            <a:r>
              <a:rPr lang="en-US" sz="4200">
                <a:solidFill>
                  <a:srgbClr val="707070"/>
                </a:solidFill>
                <a:latin typeface="Pragmatica" panose="020B0403040502020204" pitchFamily="34" charset="0"/>
              </a:rPr>
              <a:t>where Office Scripts</a:t>
            </a: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, Automate, and Agents actually fit</a:t>
            </a:r>
          </a:p>
          <a:p>
            <a:pPr marL="685800" indent="-685800">
              <a:buClr>
                <a:srgbClr val="CF3338"/>
              </a:buClr>
              <a:buFont typeface="Arial" panose="020B0604020202020204" pitchFamily="34" charset="0"/>
              <a:buChar char="•"/>
            </a:pPr>
            <a:r>
              <a:rPr lang="en-US" sz="4200" dirty="0">
                <a:solidFill>
                  <a:srgbClr val="707070"/>
                </a:solidFill>
                <a:latin typeface="Pragmatica" panose="020B0403040502020204" pitchFamily="34" charset="0"/>
              </a:rPr>
              <a:t>Build a practical modeling workflow you can use tomorrow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29761B90-A7DE-4A60-A915-F085BD87CA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0763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2A2F7-CEB0-4209-DC3D-F249E9777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AB21DD4-1E71-0731-A2B8-76CDA8683D46}"/>
              </a:ext>
            </a:extLst>
          </p:cNvPr>
          <p:cNvSpPr txBox="1"/>
          <p:nvPr/>
        </p:nvSpPr>
        <p:spPr>
          <a:xfrm>
            <a:off x="520861" y="170082"/>
            <a:ext cx="1197979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dirty="0">
                <a:latin typeface="Aliens &amp; cows" panose="00000500000000000000" pitchFamily="2" charset="0"/>
              </a:rPr>
              <a:t>The AI sweet spot</a:t>
            </a:r>
          </a:p>
        </p:txBody>
      </p:sp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367A43BF-28D5-E587-7263-F5E78BC8BD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  <p:sp>
        <p:nvSpPr>
          <p:cNvPr id="2" name="Arrow: Left-Right 1">
            <a:extLst>
              <a:ext uri="{FF2B5EF4-FFF2-40B4-BE49-F238E27FC236}">
                <a16:creationId xmlns:a16="http://schemas.microsoft.com/office/drawing/2014/main" id="{B25DAC54-5829-C2EE-04C9-18CD81CE9096}"/>
              </a:ext>
            </a:extLst>
          </p:cNvPr>
          <p:cNvSpPr/>
          <p:nvPr/>
        </p:nvSpPr>
        <p:spPr>
          <a:xfrm>
            <a:off x="1143000" y="3695700"/>
            <a:ext cx="15392400" cy="3733800"/>
          </a:xfrm>
          <a:prstGeom prst="leftRightArrow">
            <a:avLst/>
          </a:prstGeom>
          <a:solidFill>
            <a:srgbClr val="CF3338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F9E5D4-9FF2-2C0F-5B3F-7B2E307FA5D0}"/>
              </a:ext>
            </a:extLst>
          </p:cNvPr>
          <p:cNvSpPr/>
          <p:nvPr/>
        </p:nvSpPr>
        <p:spPr>
          <a:xfrm>
            <a:off x="6629400" y="4648200"/>
            <a:ext cx="3962400" cy="1828800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/>
              <a:t>AI + Excel’s existing controls = leverage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AC6237-2E9E-5783-FD0D-BC4939235463}"/>
              </a:ext>
            </a:extLst>
          </p:cNvPr>
          <p:cNvSpPr txBox="1"/>
          <p:nvPr/>
        </p:nvSpPr>
        <p:spPr>
          <a:xfrm>
            <a:off x="2084533" y="4912476"/>
            <a:ext cx="44196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AI without structure = risk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16B48F-B4DE-EC2C-3E01-3DAE4467291D}"/>
              </a:ext>
            </a:extLst>
          </p:cNvPr>
          <p:cNvSpPr txBox="1"/>
          <p:nvPr/>
        </p:nvSpPr>
        <p:spPr>
          <a:xfrm>
            <a:off x="10611678" y="4900880"/>
            <a:ext cx="47244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Structure without AI = slow</a:t>
            </a:r>
          </a:p>
        </p:txBody>
      </p:sp>
    </p:spTree>
    <p:extLst>
      <p:ext uri="{BB962C8B-B14F-4D97-AF65-F5344CB8AC3E}">
        <p14:creationId xmlns:p14="http://schemas.microsoft.com/office/powerpoint/2010/main" val="35234289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DDAFB-C39F-E1F1-239C-CC130F0E9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3F99B048-238E-884E-F9CC-BE10034697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83C5240-267F-C074-4137-482F2BB3C2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800" y="533400"/>
            <a:ext cx="9220200" cy="922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4951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0431" y="329879"/>
            <a:ext cx="8906720" cy="75711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Auditable data cleaning with Power Query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Copilot to identify potential data quality issues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Enforce standardization and business rules with Power Query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Copilot to clarify and document transformation steps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Worksheet: </a:t>
            </a:r>
            <a:r>
              <a:rPr lang="en-US" sz="3600" dirty="0" err="1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InvoiceRegister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8715317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4CBBF-8FFC-E22C-8007-C2C9DD554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F9677D3-44B2-5B66-71B7-B1543A9DF4D8}"/>
              </a:ext>
            </a:extLst>
          </p:cNvPr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731ED99-003F-9B63-0C97-20993D0F4B5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405B7C2-2826-D66C-4521-5694092DDB43}"/>
              </a:ext>
            </a:extLst>
          </p:cNvPr>
          <p:cNvSpPr txBox="1"/>
          <p:nvPr/>
        </p:nvSpPr>
        <p:spPr>
          <a:xfrm>
            <a:off x="260431" y="329879"/>
            <a:ext cx="8906720" cy="6296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Scenario-based payment timing analysis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Specify uncertainty ranges using natural language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Run a reproducible scenario </a:t>
            </a:r>
            <a:r>
              <a:rPr lang="en-US" sz="3600">
                <a:solidFill>
                  <a:srgbClr val="C00000"/>
                </a:solidFill>
                <a:latin typeface="Pragmatica" panose="020B0403040502020204"/>
                <a:sym typeface="Consolas"/>
              </a:rPr>
              <a:t>analysis 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Worksheet: </a:t>
            </a:r>
            <a:r>
              <a:rPr lang="en-US" sz="3600" dirty="0" err="1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OpenInvoices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417352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A7F86A-C9A1-36F7-63F4-518236B2C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FA93C5A-E306-615A-6570-3BDCB204E0E4}"/>
              </a:ext>
            </a:extLst>
          </p:cNvPr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0563824-D714-5588-FCB3-54A382D2BC1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0301B72-4635-023D-51BD-0B9F1FEDF896}"/>
              </a:ext>
            </a:extLst>
          </p:cNvPr>
          <p:cNvSpPr txBox="1"/>
          <p:nvPr/>
        </p:nvSpPr>
        <p:spPr>
          <a:xfrm>
            <a:off x="260431" y="329879"/>
            <a:ext cx="8906720" cy="92726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Exception review &amp; variance explanation with Analyst Agent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Ask the agent to flag the biggest variances and unusual invoice volume shifts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Have it show its work (reasoning + intermediate steps) for review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the output to draft a concise, defensible close summary</a:t>
            </a: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endParaRPr lang="en-US" sz="3600" dirty="0">
              <a:solidFill>
                <a:srgbClr val="C00000"/>
              </a:solidFill>
              <a:latin typeface="Pragmatica" panose="020B0403040502020204"/>
              <a:sym typeface="Consolas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Worksheet: </a:t>
            </a:r>
            <a:r>
              <a:rPr lang="en-US" sz="3600" dirty="0" err="1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APSummary</a:t>
            </a:r>
            <a:endParaRPr lang="en-US" sz="3600" dirty="0">
              <a:solidFill>
                <a:srgbClr val="C00000"/>
              </a:solidFill>
              <a:latin typeface="Consolas" panose="020B0609020204030204" pitchFamily="49" charset="0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269920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CB882-454A-EA2E-95D8-625286901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6D9137F-AB84-4A7D-C46D-CD5ECFE5D7F4}"/>
              </a:ext>
            </a:extLst>
          </p:cNvPr>
          <p:cNvSpPr/>
          <p:nvPr/>
        </p:nvSpPr>
        <p:spPr>
          <a:xfrm>
            <a:off x="11734800" y="0"/>
            <a:ext cx="655320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65DE7AF-05B2-1DE1-C36A-524D3F1CCC2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D6D2621-E985-98E9-6041-1E91616B5A2A}"/>
              </a:ext>
            </a:extLst>
          </p:cNvPr>
          <p:cNvSpPr txBox="1"/>
          <p:nvPr/>
        </p:nvSpPr>
        <p:spPr>
          <a:xfrm>
            <a:off x="260430" y="329879"/>
            <a:ext cx="11017169" cy="88398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Controlled approval workflows with Power Automate &amp; Excel</a:t>
            </a:r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Power Automate to route requests and manage approvals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Record outcomes and comments in a structured Excel table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Reduce email-based manual work while preserving review and auditability</a:t>
            </a: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6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Reference example: Expense approval workflow (Forms → Power Automate → Excel)</a:t>
            </a: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200" u="sng" dirty="0">
                <a:solidFill>
                  <a:srgbClr val="CF3338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https://stringfestanalytics.com/power-automate-for-excel-how-to-create-an-approval-process-with-microsoft-forms/</a:t>
            </a:r>
            <a:endParaRPr lang="en-US" sz="5400" dirty="0">
              <a:solidFill>
                <a:srgbClr val="CF3338"/>
              </a:solidFill>
              <a:latin typeface="Consolas" panose="020B0609020204030204" pitchFamily="49" charset="0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8197286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9861630" y="0"/>
            <a:ext cx="842637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227" t="33418" r="20112" b="50548"/>
          <a:stretch/>
        </p:blipFill>
        <p:spPr>
          <a:xfrm>
            <a:off x="15579524" y="7544693"/>
            <a:ext cx="2708477" cy="29875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0431" y="329879"/>
            <a:ext cx="8906720" cy="8710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b="1" dirty="0">
                <a:solidFill>
                  <a:srgbClr val="CF3338"/>
                </a:solidFill>
                <a:latin typeface="Pragmatica" panose="020B0403040502020204" pitchFamily="34" charset="0"/>
              </a:rPr>
              <a:t>Draft-first reporting workflows with Agent Mode</a:t>
            </a:r>
          </a:p>
          <a:p>
            <a:endParaRPr lang="en-US" sz="4200" dirty="0">
              <a:solidFill>
                <a:srgbClr val="CF3338"/>
              </a:solidFill>
              <a:latin typeface="Pragmatica" panose="020B0403040502020204" pitchFamily="34" charset="0"/>
            </a:endParaRP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2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Use Agent Mode to assemble analyses, charts, and written summaries across Excel sheets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2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Treat agent output as a coordinated draft, not a final deliverable</a:t>
            </a:r>
          </a:p>
          <a:p>
            <a:pPr marL="685800" indent="-54292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  <a:buFont typeface="Arial"/>
              <a:buAutoNum type="arabicPeriod"/>
            </a:pPr>
            <a:r>
              <a:rPr lang="en-US" sz="32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Review, edit, and approve results to preserve accuracy and auditability</a:t>
            </a: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endParaRPr lang="en-US" sz="3200" dirty="0">
              <a:solidFill>
                <a:srgbClr val="C00000"/>
              </a:solidFill>
              <a:latin typeface="Pragmatica" panose="020B0403040502020204"/>
              <a:sym typeface="Consolas"/>
            </a:endParaRPr>
          </a:p>
          <a:p>
            <a:pPr marL="142875">
              <a:lnSpc>
                <a:spcPct val="115000"/>
              </a:lnSpc>
              <a:spcBef>
                <a:spcPts val="1125"/>
              </a:spcBef>
              <a:buClr>
                <a:srgbClr val="C00000"/>
              </a:buClr>
              <a:buSzPts val="2100"/>
            </a:pPr>
            <a:r>
              <a:rPr lang="en-US" sz="3200" dirty="0">
                <a:solidFill>
                  <a:srgbClr val="C00000"/>
                </a:solidFill>
                <a:latin typeface="Pragmatica" panose="020B0403040502020204"/>
                <a:sym typeface="Consolas"/>
              </a:rPr>
              <a:t>Worksheet: </a:t>
            </a:r>
            <a:r>
              <a:rPr lang="en-US" sz="3200" dirty="0" err="1">
                <a:solidFill>
                  <a:srgbClr val="C00000"/>
                </a:solidFill>
                <a:latin typeface="Consolas" panose="020B0609020204030204" pitchFamily="49" charset="0"/>
                <a:sym typeface="Consolas"/>
              </a:rPr>
              <a:t>APMonthly</a:t>
            </a:r>
            <a:endParaRPr lang="en-US" sz="6000" dirty="0">
              <a:solidFill>
                <a:srgbClr val="CF3338"/>
              </a:solidFill>
              <a:latin typeface="Pragmatica" panose="020B04030405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6792217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4C72A-DF4F-3619-6A00-C42C9EFFE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close up of a sign&#10;&#10;Description automatically generated">
            <a:extLst>
              <a:ext uri="{FF2B5EF4-FFF2-40B4-BE49-F238E27FC236}">
                <a16:creationId xmlns:a16="http://schemas.microsoft.com/office/drawing/2014/main" id="{653C19F5-31E1-B871-222A-EE176EB1CD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41036" y="8058429"/>
            <a:ext cx="1942857" cy="22285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A4145DF-B19E-A76D-EA90-329D749FDD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800" y="533400"/>
            <a:ext cx="9220200" cy="922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1558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28" t="56371"/>
          <a:stretch/>
        </p:blipFill>
        <p:spPr>
          <a:xfrm>
            <a:off x="12204691" y="3316148"/>
            <a:ext cx="6083309" cy="6970854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07744" y="-3724155"/>
            <a:ext cx="15257208" cy="111898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6137" y="2531318"/>
            <a:ext cx="1197979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rgbClr val="CF3338"/>
                </a:solidFill>
                <a:latin typeface="Pragmatica" panose="020B0403040502020204" pitchFamily="34" charset="0"/>
              </a:rPr>
              <a:t>Questions?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A06221-5316-4BCF-9FDA-BDB95FF4A7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204691" y="3317239"/>
            <a:ext cx="6083309" cy="6968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8607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323C9-D5F7-C820-78B9-E169BDF23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971779-1F50-1702-DEC1-87CD482189F0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CF33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CC4C7B-C529-5329-03AC-796804551DC1}"/>
              </a:ext>
            </a:extLst>
          </p:cNvPr>
          <p:cNvSpPr txBox="1"/>
          <p:nvPr/>
        </p:nvSpPr>
        <p:spPr>
          <a:xfrm>
            <a:off x="781292" y="590309"/>
            <a:ext cx="15486926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900" b="1" dirty="0">
                <a:solidFill>
                  <a:schemeClr val="bg1"/>
                </a:solidFill>
                <a:latin typeface="Normafixed Tryout" panose="00000409000000000000" pitchFamily="49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6578290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2688</TotalTime>
  <Words>578</Words>
  <Application>Microsoft Office PowerPoint</Application>
  <PresentationFormat>Custom</PresentationFormat>
  <Paragraphs>74</Paragraphs>
  <Slides>13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Aliens &amp; cows</vt:lpstr>
      <vt:lpstr>Pragmatica</vt:lpstr>
      <vt:lpstr>Consolas</vt:lpstr>
      <vt:lpstr>Normafixed Tryout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excel-statistics-for-business-analytics</dc:title>
  <dc:creator>User</dc:creator>
  <cp:lastModifiedBy>George Mount</cp:lastModifiedBy>
  <cp:revision>237</cp:revision>
  <dcterms:created xsi:type="dcterms:W3CDTF">2006-08-16T00:00:00Z</dcterms:created>
  <dcterms:modified xsi:type="dcterms:W3CDTF">2026-02-26T14:55:11Z</dcterms:modified>
  <dc:identifier>DADurESpNu8</dc:identifier>
</cp:coreProperties>
</file>